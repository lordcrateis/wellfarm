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f74abd61a34d0e" /><Relationship Type="http://schemas.openxmlformats.org/officeDocument/2006/relationships/extended-properties" Target="/docProps/app.xml" Id="R263a46cb3c8544a9" /><Relationship Type="http://schemas.openxmlformats.org/officeDocument/2006/relationships/officeDocument" Target="/ppt/presentation.xml" Id="Rc3e81de1c1c14e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7de96aed864a45"/>
  </p:sldMasterIdLst>
  <p:notesMasterIdLst>
    <p:notesMasterId xmlns:r="http://schemas.openxmlformats.org/officeDocument/2006/relationships" r:id="R950b6cd276824b94"/>
  </p:notesMasterIdLst>
  <p:sldIdLst>
    <p:sldId xmlns:r="http://schemas.openxmlformats.org/officeDocument/2006/relationships" id="256" r:id="R8f5f4baad0e94486"/>
    <p:sldId xmlns:r="http://schemas.openxmlformats.org/officeDocument/2006/relationships" id="257" r:id="Ree6f208ed44f4c80"/>
    <p:sldId xmlns:r="http://schemas.openxmlformats.org/officeDocument/2006/relationships" id="258" r:id="R0e7ee0c279234a7c"/>
    <p:sldId xmlns:r="http://schemas.openxmlformats.org/officeDocument/2006/relationships" id="259" r:id="R05c177051e5b49a5"/>
    <p:sldId xmlns:r="http://schemas.openxmlformats.org/officeDocument/2006/relationships" id="260" r:id="R36e5b912f12f4e17"/>
    <p:sldId xmlns:r="http://schemas.openxmlformats.org/officeDocument/2006/relationships" id="261" r:id="Re725ab038bcd4f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b50eeff2454643" /><Relationship Type="http://schemas.openxmlformats.org/officeDocument/2006/relationships/slideMaster" Target="/ppt/slideMasters/slideMaster1.xml" Id="R387de96aed864a45" /><Relationship Type="http://schemas.openxmlformats.org/officeDocument/2006/relationships/notesMaster" Target="/ppt/notesMasters/notesMaster1.xml" Id="R950b6cd276824b94" /><Relationship Type="http://schemas.openxmlformats.org/officeDocument/2006/relationships/presProps" Target="/ppt/presProps.xml" Id="R518c791a23f443b8" /><Relationship Type="http://schemas.openxmlformats.org/officeDocument/2006/relationships/tableStyles" Target="/ppt/tableStyles.xml" Id="Rfc82b08a128d48b2" /><Relationship Type="http://schemas.openxmlformats.org/officeDocument/2006/relationships/slide" Target="/ppt/slides/slide1.xml" Id="R8f5f4baad0e94486" /><Relationship Type="http://schemas.openxmlformats.org/officeDocument/2006/relationships/slide" Target="/ppt/slides/slide2.xml" Id="Ree6f208ed44f4c80" /><Relationship Type="http://schemas.openxmlformats.org/officeDocument/2006/relationships/slide" Target="/ppt/slides/slide3.xml" Id="R0e7ee0c279234a7c" /><Relationship Type="http://schemas.openxmlformats.org/officeDocument/2006/relationships/slide" Target="/ppt/slides/slide4.xml" Id="R05c177051e5b49a5" /><Relationship Type="http://schemas.openxmlformats.org/officeDocument/2006/relationships/slide" Target="/ppt/slides/slide5.xml" Id="R36e5b912f12f4e17" /><Relationship Type="http://schemas.openxmlformats.org/officeDocument/2006/relationships/slide" Target="/ppt/slides/slide6.xml" Id="Re725ab038bcd4f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b894f5634243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9a237ac21f4400" /><Relationship Type="http://schemas.openxmlformats.org/officeDocument/2006/relationships/notesMaster" Target="/ppt/notesMasters/notesMaster1.xml" Id="Rc7f91780026541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2ba9a01e204e98" /><Relationship Type="http://schemas.openxmlformats.org/officeDocument/2006/relationships/notesMaster" Target="/ppt/notesMasters/notesMaster1.xml" Id="Rff86c7b7fc1044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4a19a694cb42d4" /><Relationship Type="http://schemas.openxmlformats.org/officeDocument/2006/relationships/notesMaster" Target="/ppt/notesMasters/notesMaster1.xml" Id="Rd7218e9036ce41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5ca6a44a6d4f9a" /><Relationship Type="http://schemas.openxmlformats.org/officeDocument/2006/relationships/notesMaster" Target="/ppt/notesMasters/notesMaster1.xml" Id="R3d07446ca21148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529487516aa4a90" /><Relationship Type="http://schemas.openxmlformats.org/officeDocument/2006/relationships/notesMaster" Target="/ppt/notesMasters/notesMaster1.xml" Id="R1d344c65d2b445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d8a1ab330f4d25" /><Relationship Type="http://schemas.openxmlformats.org/officeDocument/2006/relationships/notesMaster" Target="/ppt/notesMasters/notesMaster1.xml" Id="Rc5ce7e3677244d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docs/product-requirements.md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platform/replit/artifacts/wellfarm/src/App.tsx</a:t>
            </a:r>
          </a:p>
          <a:p xmlns:a="http://schemas.openxmlformats.org/drawingml/2006/main">
            <a:r>
              <a:t>- docs/product-requirements.md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services/vision/README.md</a:t>
            </a:r>
          </a:p>
          <a:p xmlns:a="http://schemas.openxmlformats.org/drawingml/2006/main">
            <a:r>
              <a:t>- services/api/README.md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docs/roadmap.md</a:t>
            </a:r>
          </a:p>
          <a:p xmlns:a="http://schemas.openxmlformats.org/drawingml/2006/main">
            <a:r>
              <a:t>- data/README.md</a:t>
            </a:r>
          </a:p>
          <a:p xmlns:a="http://schemas.openxmlformats.org/drawingml/2006/main">
            <a:r>
              <a:t>- SECURITY.md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services/vision/tests</a:t>
            </a:r>
          </a:p>
          <a:p xmlns:a="http://schemas.openxmlformats.org/drawingml/2006/main">
            <a:r>
              <a:t>- packages/contracts/README.md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docs/roadmap.md</a:t>
            </a:r>
          </a:p>
          <a:p xmlns:a="http://schemas.openxmlformats.org/drawingml/2006/main">
            <a:r>
              <a:t>- SECURITY.md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20cee9925d4b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6c5977255143a7" /><Relationship Type="http://schemas.openxmlformats.org/officeDocument/2006/relationships/slideLayout" Target="/ppt/slideLayouts/slideLayout1.xml" Id="R012773a3e4a546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2773a3e4a546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365b383154c92" /><Relationship Type="http://schemas.openxmlformats.org/officeDocument/2006/relationships/image" Target="/ppt/media/image.png" Id="R5e7788dab636434d" /><Relationship Type="http://schemas.openxmlformats.org/officeDocument/2006/relationships/notesSlide" Target="/ppt/notesSlides/notesSlide1.xml" Id="R3bb9f417ced14c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589d0b29c4455e" /><Relationship Type="http://schemas.openxmlformats.org/officeDocument/2006/relationships/notesSlide" Target="/ppt/notesSlides/notesSlide2.xml" Id="R9bd550bce3ac45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b7df678ccd4495" /><Relationship Type="http://schemas.openxmlformats.org/officeDocument/2006/relationships/notesSlide" Target="/ppt/notesSlides/notesSlide3.xml" Id="R9b52be2055de40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9629c22e9d4dce" /><Relationship Type="http://schemas.openxmlformats.org/officeDocument/2006/relationships/notesSlide" Target="/ppt/notesSlides/notesSlide4.xml" Id="Rc61e6cde276646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0f8ddac89e4e73" /><Relationship Type="http://schemas.openxmlformats.org/officeDocument/2006/relationships/notesSlide" Target="/ppt/notesSlides/notesSlide5.xml" Id="Rdfc16030704b482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98ef31e064db1" /><Relationship Type="http://schemas.openxmlformats.org/officeDocument/2006/relationships/notesSlide" Target="/ppt/notesSlides/notesSlide6.xml" Id="Rc2040402a7eb4c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D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7788dab636434d"/>
          <a:srcRect xmlns:a="http://schemas.openxmlformats.org/drawingml/2006/main" l="23814" t="0" r="238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0"/>
            <a:ext cx="6381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left">
            <a:extLst xmlns:a="http://schemas.openxmlformats.org/drawingml/2006/main">
              <a:ext uri="{FF2B5EF4-FFF2-40B4-BE49-F238E27FC236}">
                <a16:creationId xmlns:a16="http://schemas.microsoft.com/office/drawing/2014/main" id="{DBA4B802-3827-4298-A25F-C46A1445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B32490F3-FECB-4A97-85AC-907422B8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742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E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AF718B1C-22D3-426E-BB2D-F697A4D7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44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D7E8D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7E8DD"/>
                </a:solidFill>
                <a:latin typeface="Aptos"/>
                <a:ea typeface="Aptos"/>
                <a:cs typeface="Aptos"/>
              </a:rPr>
              <a:t>OPEN PORTFOLIO PROJECT  •  CROP HEALTH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1317F96-29F0-4B7A-A10F-D560C63B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430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5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Wellfarm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163922AB-9B9F-4A10-8E44-AA9DB024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9850"/>
            <a:ext cx="4762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Explainable crop-health intelligence for field decisions and regional exploration.</a:t>
            </a:r>
          </a:p>
        </p:txBody>
      </p:sp>
      <p:sp>
        <p:nvSpPr>
          <p:cNvPr id="7" name="cover-ps">
            <a:extLst xmlns:a="http://schemas.openxmlformats.org/drawingml/2006/main">
              <a:ext uri="{FF2B5EF4-FFF2-40B4-BE49-F238E27FC236}">
                <a16:creationId xmlns:a16="http://schemas.microsoft.com/office/drawing/2014/main" id="{BAFE7878-B4F1-4B04-B34F-3D7A54B7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672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D7E8D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7E8DD"/>
                </a:solidFill>
                <a:latin typeface="Aptos"/>
                <a:ea typeface="Aptos"/>
                <a:cs typeface="Aptos"/>
              </a:rPr>
              <a:t>Built by Shivam Tamboli</a:t>
            </a:r>
          </a:p>
        </p:txBody>
      </p:sp>
      <p:sp>
        <p:nvSpPr>
          <p:cNvPr id="8" name="cover-meta">
            <a:extLst xmlns:a="http://schemas.openxmlformats.org/drawingml/2006/main">
              <a:ext uri="{FF2B5EF4-FFF2-40B4-BE49-F238E27FC236}">
                <a16:creationId xmlns:a16="http://schemas.microsoft.com/office/drawing/2014/main" id="{CCFAD9A0-F7C4-434B-9C3A-3AC7D33C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24400"/>
            <a:ext cx="4762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D7E8D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E8DD"/>
                </a:solidFill>
                <a:latin typeface="Aptos"/>
                <a:ea typeface="Aptos"/>
                <a:cs typeface="Aptos"/>
              </a:rPr>
              <a:t>Farmer fieldbook + regional insights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D7E8D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E8DD"/>
                </a:solidFill>
                <a:latin typeface="Aptos"/>
                <a:ea typeface="Aptos"/>
                <a:cs typeface="Aptos"/>
              </a:rPr>
              <a:t>Live weather and GPS context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D7E8D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E8DD"/>
                </a:solidFill>
                <a:latin typeface="Aptos"/>
                <a:ea typeface="Aptos"/>
                <a:cs typeface="Aptos"/>
              </a:rPr>
              <a:t>Open, non-commercial portfolio project</a:t>
            </a:r>
          </a:p>
        </p:txBody>
      </p:sp>
      <p:sp>
        <p:nvSpPr>
          <p:cNvPr id="9" name="cover-tag">
            <a:extLst xmlns:a="http://schemas.openxmlformats.org/drawingml/2006/main">
              <a:ext uri="{FF2B5EF4-FFF2-40B4-BE49-F238E27FC236}">
                <a16:creationId xmlns:a16="http://schemas.microsoft.com/office/drawing/2014/main" id="{01C52812-9810-49C4-A96D-B013CA59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150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29E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29E38"/>
                </a:solidFill>
                <a:latin typeface="Aptos"/>
                <a:ea typeface="Aptos"/>
                <a:cs typeface="Aptos"/>
              </a:rPr>
              <a:t>PHOTO  →  VISUAL INDICATION  →  WEATHER CONTEXT  →  PRIVATE HISTORY</a:t>
            </a:r>
          </a:p>
        </p:txBody>
      </p:sp>
    </p:spTree>
    <p:extLst>
      <p:ext uri="{BB962C8B-B14F-4D97-AF65-F5344CB8AC3E}">
        <p14:creationId xmlns:p14="http://schemas.microsoft.com/office/powerpoint/2010/main" val="9458453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2">
            <a:extLst xmlns:a="http://schemas.openxmlformats.org/drawingml/2006/main">
              <a:ext uri="{FF2B5EF4-FFF2-40B4-BE49-F238E27FC236}">
                <a16:creationId xmlns:a16="http://schemas.microsoft.com/office/drawing/2014/main" id="{195C5BC5-EC2B-40B3-92D6-CBFAF85F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76B4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6B47"/>
                </a:solidFill>
                <a:latin typeface="Aptos"/>
                <a:ea typeface="Aptos"/>
                <a:cs typeface="Aptos"/>
              </a:rPr>
              <a:t>02  PRODUCT EXPERIENCE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05BA3A62-629A-43E8-AF59-AA83435F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10231A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0231A"/>
                </a:solidFill>
                <a:latin typeface="Aptos"/>
                <a:ea typeface="Aptos"/>
                <a:cs typeface="Aptos"/>
              </a:rPr>
              <a:t>One scan becomes a useful field record</a:t>
            </a:r>
          </a:p>
        </p:txBody>
      </p:sp>
      <p:sp>
        <p:nvSpPr>
          <p:cNvPr id="3" name="subtitle-2">
            <a:extLst xmlns:a="http://schemas.openxmlformats.org/drawingml/2006/main">
              <a:ext uri="{FF2B5EF4-FFF2-40B4-BE49-F238E27FC236}">
                <a16:creationId xmlns:a16="http://schemas.microsoft.com/office/drawing/2014/main" id="{66D43A33-D12D-4DD5-B099-CB5AF8B69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3655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55B"/>
                </a:solidFill>
                <a:latin typeface="Aptos"/>
                <a:ea typeface="Aptos"/>
                <a:cs typeface="Aptos"/>
              </a:rPr>
              <a:t>Wellfarm combines a farmer workflow with privacy-aware regional exploration—without external case submission.</a:t>
            </a:r>
          </a:p>
        </p:txBody>
      </p:sp>
      <p:sp>
        <p:nvSpPr>
          <p:cNvPr id="4" name="solution-thesis">
            <a:extLst xmlns:a="http://schemas.openxmlformats.org/drawingml/2006/main">
              <a:ext uri="{FF2B5EF4-FFF2-40B4-BE49-F238E27FC236}">
                <a16:creationId xmlns:a16="http://schemas.microsoft.com/office/drawing/2014/main" id="{B082CCF0-66EB-4359-B9D7-7D2907DC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43125"/>
            <a:ext cx="111252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0B2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olution-thesis-copy">
            <a:extLst xmlns:a="http://schemas.openxmlformats.org/drawingml/2006/main">
              <a:ext uri="{FF2B5EF4-FFF2-40B4-BE49-F238E27FC236}">
                <a16:creationId xmlns:a16="http://schemas.microsoft.com/office/drawing/2014/main" id="{F5A77FE5-91AF-4D2F-B884-5CD15B7D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10553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Capture clearly. Explain uncertainty. Add context. Save locally. Explore patterns.</a:t>
            </a:r>
          </a:p>
        </p:txBody>
      </p:sp>
      <p:sp>
        <p:nvSpPr>
          <p:cNvPr id="6" name="solution-topline-0">
            <a:extLst xmlns:a="http://schemas.openxmlformats.org/drawingml/2006/main">
              <a:ext uri="{FF2B5EF4-FFF2-40B4-BE49-F238E27FC236}">
                <a16:creationId xmlns:a16="http://schemas.microsoft.com/office/drawing/2014/main" id="{5A743D3A-3CFE-42C4-95B3-265A1AAC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24225"/>
            <a:ext cx="3086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olution-head-0">
            <a:extLst xmlns:a="http://schemas.openxmlformats.org/drawingml/2006/main">
              <a:ext uri="{FF2B5EF4-FFF2-40B4-BE49-F238E27FC236}">
                <a16:creationId xmlns:a16="http://schemas.microsoft.com/office/drawing/2014/main" id="{382957FC-B79B-4F12-AC35-473FC707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90925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0231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1A"/>
                </a:solidFill>
                <a:latin typeface="Aptos"/>
                <a:ea typeface="Aptos"/>
                <a:cs typeface="Aptos"/>
              </a:rPr>
              <a:t>Farmer fieldbook</a:t>
            </a:r>
          </a:p>
        </p:txBody>
      </p:sp>
      <p:sp>
        <p:nvSpPr>
          <p:cNvPr id="8" name="solution-body-0">
            <a:extLst xmlns:a="http://schemas.openxmlformats.org/drawingml/2006/main">
              <a:ext uri="{FF2B5EF4-FFF2-40B4-BE49-F238E27FC236}">
                <a16:creationId xmlns:a16="http://schemas.microsoft.com/office/drawing/2014/main" id="{051CC9A5-ECD1-4A28-BA38-3CF09F7F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76700"/>
            <a:ext cx="3086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3655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55B"/>
                </a:solidFill>
                <a:latin typeface="Aptos"/>
                <a:ea typeface="Aptos"/>
                <a:cs typeface="Aptos"/>
              </a:rPr>
              <a:t>Photograph symptoms → choose crop details → receive a ranked visual indication → save a private record.</a:t>
            </a:r>
          </a:p>
        </p:txBody>
      </p:sp>
      <p:sp>
        <p:nvSpPr>
          <p:cNvPr id="9" name="solution-topline-1">
            <a:extLst xmlns:a="http://schemas.openxmlformats.org/drawingml/2006/main">
              <a:ext uri="{FF2B5EF4-FFF2-40B4-BE49-F238E27FC236}">
                <a16:creationId xmlns:a16="http://schemas.microsoft.com/office/drawing/2014/main" id="{2CB709B7-5A1C-48AB-B27E-9240D838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24225"/>
            <a:ext cx="3086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E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olution-head-1">
            <a:extLst xmlns:a="http://schemas.openxmlformats.org/drawingml/2006/main">
              <a:ext uri="{FF2B5EF4-FFF2-40B4-BE49-F238E27FC236}">
                <a16:creationId xmlns:a16="http://schemas.microsoft.com/office/drawing/2014/main" id="{DE777CC0-3C30-41A8-A3FD-858AA6BD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90925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0231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1A"/>
                </a:solidFill>
                <a:latin typeface="Aptos"/>
                <a:ea typeface="Aptos"/>
                <a:cs typeface="Aptos"/>
              </a:rPr>
              <a:t>Regional insights</a:t>
            </a:r>
          </a:p>
        </p:txBody>
      </p:sp>
      <p:sp>
        <p:nvSpPr>
          <p:cNvPr id="11" name="solution-body-1">
            <a:extLst xmlns:a="http://schemas.openxmlformats.org/drawingml/2006/main">
              <a:ext uri="{FF2B5EF4-FFF2-40B4-BE49-F238E27FC236}">
                <a16:creationId xmlns:a16="http://schemas.microsoft.com/office/drawing/2014/main" id="{15CA7BAF-234C-4FC0-A414-8531DEA5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76700"/>
            <a:ext cx="3086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3655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55B"/>
                </a:solidFill>
                <a:latin typeface="Aptos"/>
                <a:ea typeface="Aptos"/>
                <a:cs typeface="Aptos"/>
              </a:rPr>
              <a:t>Explore crop, condition, severity, weather, geography, and time using coarse locations and clear provenance.</a:t>
            </a:r>
          </a:p>
        </p:txBody>
      </p:sp>
      <p:sp>
        <p:nvSpPr>
          <p:cNvPr id="12" name="solution-topline-2">
            <a:extLst xmlns:a="http://schemas.openxmlformats.org/drawingml/2006/main">
              <a:ext uri="{FF2B5EF4-FFF2-40B4-BE49-F238E27FC236}">
                <a16:creationId xmlns:a16="http://schemas.microsoft.com/office/drawing/2014/main" id="{FCB034F6-88F2-4379-993A-A92F400F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24225"/>
            <a:ext cx="3086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olution-head-2">
            <a:extLst xmlns:a="http://schemas.openxmlformats.org/drawingml/2006/main">
              <a:ext uri="{FF2B5EF4-FFF2-40B4-BE49-F238E27FC236}">
                <a16:creationId xmlns:a16="http://schemas.microsoft.com/office/drawing/2014/main" id="{6D3CB2D0-A451-4811-9858-F29155CF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590925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0231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31A"/>
                </a:solidFill>
                <a:latin typeface="Aptos"/>
                <a:ea typeface="Aptos"/>
                <a:cs typeface="Aptos"/>
              </a:rPr>
              <a:t>Transparent intelligence</a:t>
            </a:r>
          </a:p>
        </p:txBody>
      </p:sp>
      <p:sp>
        <p:nvSpPr>
          <p:cNvPr id="14" name="solution-body-2">
            <a:extLst xmlns:a="http://schemas.openxmlformats.org/drawingml/2006/main">
              <a:ext uri="{FF2B5EF4-FFF2-40B4-BE49-F238E27FC236}">
                <a16:creationId xmlns:a16="http://schemas.microsoft.com/office/drawing/2014/main" id="{5F0A3322-CD97-4838-AB7F-14174CDB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76700"/>
            <a:ext cx="3086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3655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55B"/>
                </a:solidFill>
                <a:latin typeface="Aptos"/>
                <a:ea typeface="Aptos"/>
                <a:cs typeface="Aptos"/>
              </a:rPr>
              <a:t>Live weather, model output, local records, and sample regional data stay visibly distinct throughout the product.</a:t>
            </a:r>
          </a:p>
        </p:txBody>
      </p:sp>
      <p:sp>
        <p:nvSpPr>
          <p:cNvPr id="15" name="novelty-band">
            <a:extLst xmlns:a="http://schemas.openxmlformats.org/drawingml/2006/main">
              <a:ext uri="{FF2B5EF4-FFF2-40B4-BE49-F238E27FC236}">
                <a16:creationId xmlns:a16="http://schemas.microsoft.com/office/drawing/2014/main" id="{3D10A41A-8A00-408C-B563-B4474FD1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111252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ovelty-copy">
            <a:extLst xmlns:a="http://schemas.openxmlformats.org/drawingml/2006/main">
              <a:ext uri="{FF2B5EF4-FFF2-40B4-BE49-F238E27FC236}">
                <a16:creationId xmlns:a16="http://schemas.microsoft.com/office/drawing/2014/main" id="{42F747BB-FDD9-444C-A14A-58B7F157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38825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10231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31A"/>
                </a:solidFill>
                <a:latin typeface="Aptos"/>
                <a:ea typeface="Aptos"/>
                <a:cs typeface="Aptos"/>
              </a:rPr>
              <a:t>DESIGN PRINCIPLE  Every signal keeps its provenance, uncertainty, and privacy boundary visible.</a:t>
            </a:r>
          </a:p>
        </p:txBody>
      </p:sp>
      <p:sp>
        <p:nvSpPr>
          <p:cNvPr id="17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9EB8A5CF-A929-4D26-9064-E3AAF46A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footer-brand-2">
            <a:extLst xmlns:a="http://schemas.openxmlformats.org/drawingml/2006/main">
              <a:ext uri="{FF2B5EF4-FFF2-40B4-BE49-F238E27FC236}">
                <a16:creationId xmlns:a16="http://schemas.microsoft.com/office/drawing/2014/main" id="{B54CABBE-C092-4242-A696-EA9F2530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365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3655B"/>
                </a:solidFill>
                <a:latin typeface="Aptos"/>
                <a:ea typeface="Aptos"/>
                <a:cs typeface="Aptos"/>
              </a:rPr>
              <a:t>Wellfarm  •  Portfolio overview</a:t>
            </a:r>
          </a:p>
        </p:txBody>
      </p:sp>
      <p:sp>
        <p:nvSpPr>
          <p:cNvPr id="19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88700852-CAF9-4172-A5F8-D1B83F98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3655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5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005430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kicker-3">
            <a:extLst xmlns:a="http://schemas.openxmlformats.org/drawingml/2006/main">
              <a:ext uri="{FF2B5EF4-FFF2-40B4-BE49-F238E27FC236}">
                <a16:creationId xmlns:a16="http://schemas.microsoft.com/office/drawing/2014/main" id="{41D5BDCE-278A-45F0-B4A0-F91C6586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76B4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6B47"/>
                </a:solidFill>
                <a:latin typeface="Aptos"/>
                <a:ea typeface="Aptos"/>
                <a:cs typeface="Aptos"/>
              </a:rPr>
              <a:t>03  TECHNICAL ARCHITECTURE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96C6BDD6-1979-4F4E-B4B7-5E38A667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10231A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0231A"/>
                </a:solidFill>
                <a:latin typeface="Aptos"/>
                <a:ea typeface="Aptos"/>
                <a:cs typeface="Aptos"/>
              </a:rPr>
              <a:t>Capture → classify → contextualize → learn, with boundaries</a:t>
            </a:r>
          </a:p>
        </p:txBody>
      </p:sp>
      <p:sp>
        <p:nvSpPr>
          <p:cNvPr id="3" name="subtitle-3">
            <a:extLst xmlns:a="http://schemas.openxmlformats.org/drawingml/2006/main">
              <a:ext uri="{FF2B5EF4-FFF2-40B4-BE49-F238E27FC236}">
                <a16:creationId xmlns:a16="http://schemas.microsoft.com/office/drawing/2014/main" id="{472CBA4C-0100-4C8C-9619-4F6FCA2E8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3655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55B"/>
                </a:solidFill>
                <a:latin typeface="Aptos"/>
                <a:ea typeface="Aptos"/>
                <a:cs typeface="Aptos"/>
              </a:rPr>
              <a:t>A modular architecture keeps live, model-generated, local, and sample data visibly separate.</a:t>
            </a:r>
          </a:p>
        </p:txBody>
      </p:sp>
      <p:sp>
        <p:nvSpPr>
          <p:cNvPr id="4" name="flow-line">
            <a:extLst xmlns:a="http://schemas.openxmlformats.org/drawingml/2006/main">
              <a:ext uri="{FF2B5EF4-FFF2-40B4-BE49-F238E27FC236}">
                <a16:creationId xmlns:a16="http://schemas.microsoft.com/office/drawing/2014/main" id="{28453CAF-3391-400D-B41F-F081D815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305175"/>
            <a:ext cx="8915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age-dot-0">
            <a:extLst xmlns:a="http://schemas.openxmlformats.org/drawingml/2006/main">
              <a:ext uri="{FF2B5EF4-FFF2-40B4-BE49-F238E27FC236}">
                <a16:creationId xmlns:a16="http://schemas.microsoft.com/office/drawing/2014/main" id="{0CF100AD-47F0-4EA0-94B4-542B76BB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813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age-num-0">
            <a:extLst xmlns:a="http://schemas.openxmlformats.org/drawingml/2006/main">
              <a:ext uri="{FF2B5EF4-FFF2-40B4-BE49-F238E27FC236}">
                <a16:creationId xmlns:a16="http://schemas.microsoft.com/office/drawing/2014/main" id="{CEC6CC61-53CB-438B-A270-FAE5BE7D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099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stage-head-0">
            <a:extLst xmlns:a="http://schemas.openxmlformats.org/drawingml/2006/main">
              <a:ext uri="{FF2B5EF4-FFF2-40B4-BE49-F238E27FC236}">
                <a16:creationId xmlns:a16="http://schemas.microsoft.com/office/drawing/2014/main" id="{946908F5-2DB0-40CC-A8B8-4B99BA78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05225"/>
            <a:ext cx="1638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023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31A"/>
                </a:solidFill>
                <a:latin typeface="Aptos"/>
                <a:ea typeface="Aptos"/>
                <a:cs typeface="Aptos"/>
              </a:rPr>
              <a:t>Capture</a:t>
            </a:r>
          </a:p>
        </p:txBody>
      </p:sp>
      <p:sp>
        <p:nvSpPr>
          <p:cNvPr id="8" name="stage-body-0">
            <a:extLst xmlns:a="http://schemas.openxmlformats.org/drawingml/2006/main">
              <a:ext uri="{FF2B5EF4-FFF2-40B4-BE49-F238E27FC236}">
                <a16:creationId xmlns:a16="http://schemas.microsoft.com/office/drawing/2014/main" id="{6BCF6CC3-1EDE-4295-BF62-000C9A66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24325"/>
            <a:ext cx="16383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3655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5B"/>
                </a:solidFill>
                <a:latin typeface="Aptos"/>
                <a:ea typeface="Aptos"/>
                <a:cs typeface="Aptos"/>
              </a:rPr>
              <a:t>Photo + crop + approximate GPS location</a:t>
            </a:r>
          </a:p>
        </p:txBody>
      </p:sp>
      <p:sp>
        <p:nvSpPr>
          <p:cNvPr id="9" name="stage-dot-1">
            <a:extLst xmlns:a="http://schemas.openxmlformats.org/drawingml/2006/main">
              <a:ext uri="{FF2B5EF4-FFF2-40B4-BE49-F238E27FC236}">
                <a16:creationId xmlns:a16="http://schemas.microsoft.com/office/drawing/2014/main" id="{92D23B15-7BAD-4393-985D-71190AF2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1813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age-num-1">
            <a:extLst xmlns:a="http://schemas.openxmlformats.org/drawingml/2006/main">
              <a:ext uri="{FF2B5EF4-FFF2-40B4-BE49-F238E27FC236}">
                <a16:creationId xmlns:a16="http://schemas.microsoft.com/office/drawing/2014/main" id="{FF40E75E-B4D0-46FD-8E78-66F5097DE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2099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stage-head-1">
            <a:extLst xmlns:a="http://schemas.openxmlformats.org/drawingml/2006/main">
              <a:ext uri="{FF2B5EF4-FFF2-40B4-BE49-F238E27FC236}">
                <a16:creationId xmlns:a16="http://schemas.microsoft.com/office/drawing/2014/main" id="{C06BD2FB-1453-4FAE-9DF5-774A7951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705225"/>
            <a:ext cx="1638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023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31A"/>
                </a:solidFill>
                <a:latin typeface="Aptos"/>
                <a:ea typeface="Aptos"/>
                <a:cs typeface="Aptos"/>
              </a:rPr>
              <a:t>Classify</a:t>
            </a:r>
          </a:p>
        </p:txBody>
      </p:sp>
      <p:sp>
        <p:nvSpPr>
          <p:cNvPr id="12" name="stage-body-1">
            <a:extLst xmlns:a="http://schemas.openxmlformats.org/drawingml/2006/main">
              <a:ext uri="{FF2B5EF4-FFF2-40B4-BE49-F238E27FC236}">
                <a16:creationId xmlns:a16="http://schemas.microsoft.com/office/drawing/2014/main" id="{CD96CEF5-EE7D-4991-AEB7-003A9944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124325"/>
            <a:ext cx="16383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3655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5B"/>
                </a:solidFill>
                <a:latin typeface="Aptos"/>
                <a:ea typeface="Aptos"/>
                <a:cs typeface="Aptos"/>
              </a:rPr>
              <a:t>Ranked labels, confidence, model version</a:t>
            </a:r>
          </a:p>
        </p:txBody>
      </p:sp>
      <p:sp>
        <p:nvSpPr>
          <p:cNvPr id="13" name="stage-dot-2">
            <a:extLst xmlns:a="http://schemas.openxmlformats.org/drawingml/2006/main">
              <a:ext uri="{FF2B5EF4-FFF2-40B4-BE49-F238E27FC236}">
                <a16:creationId xmlns:a16="http://schemas.microsoft.com/office/drawing/2014/main" id="{F10EF69F-48CA-42B9-89C6-67ADE26D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813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age-num-2">
            <a:extLst xmlns:a="http://schemas.openxmlformats.org/drawingml/2006/main">
              <a:ext uri="{FF2B5EF4-FFF2-40B4-BE49-F238E27FC236}">
                <a16:creationId xmlns:a16="http://schemas.microsoft.com/office/drawing/2014/main" id="{38A6CE80-4801-4185-88B0-3EABF000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099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stage-head-2">
            <a:extLst xmlns:a="http://schemas.openxmlformats.org/drawingml/2006/main">
              <a:ext uri="{FF2B5EF4-FFF2-40B4-BE49-F238E27FC236}">
                <a16:creationId xmlns:a16="http://schemas.microsoft.com/office/drawing/2014/main" id="{6826966F-92F6-442F-B70D-2C850741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05225"/>
            <a:ext cx="1638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023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31A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16" name="stage-body-2">
            <a:extLst xmlns:a="http://schemas.openxmlformats.org/drawingml/2006/main">
              <a:ext uri="{FF2B5EF4-FFF2-40B4-BE49-F238E27FC236}">
                <a16:creationId xmlns:a16="http://schemas.microsoft.com/office/drawing/2014/main" id="{6BC28A89-185A-4FB6-9CC5-B2A08C62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24325"/>
            <a:ext cx="16383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3655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5B"/>
                </a:solidFill>
                <a:latin typeface="Aptos"/>
                <a:ea typeface="Aptos"/>
                <a:cs typeface="Aptos"/>
              </a:rPr>
              <a:t>Plain-language result and safe next steps</a:t>
            </a:r>
          </a:p>
        </p:txBody>
      </p:sp>
      <p:sp>
        <p:nvSpPr>
          <p:cNvPr id="17" name="stage-dot-3">
            <a:extLst xmlns:a="http://schemas.openxmlformats.org/drawingml/2006/main">
              <a:ext uri="{FF2B5EF4-FFF2-40B4-BE49-F238E27FC236}">
                <a16:creationId xmlns:a16="http://schemas.microsoft.com/office/drawing/2014/main" id="{23193E0A-8B4E-4203-89DD-DA287827C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1813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E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age-num-3">
            <a:extLst xmlns:a="http://schemas.openxmlformats.org/drawingml/2006/main">
              <a:ext uri="{FF2B5EF4-FFF2-40B4-BE49-F238E27FC236}">
                <a16:creationId xmlns:a16="http://schemas.microsoft.com/office/drawing/2014/main" id="{E37A9651-578A-4FFB-85FE-2A461B48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2099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stage-head-3">
            <a:extLst xmlns:a="http://schemas.openxmlformats.org/drawingml/2006/main">
              <a:ext uri="{FF2B5EF4-FFF2-40B4-BE49-F238E27FC236}">
                <a16:creationId xmlns:a16="http://schemas.microsoft.com/office/drawing/2014/main" id="{5A47524F-CC26-43F3-8A03-C3037F79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05225"/>
            <a:ext cx="1638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023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31A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20" name="stage-body-3">
            <a:extLst xmlns:a="http://schemas.openxmlformats.org/drawingml/2006/main">
              <a:ext uri="{FF2B5EF4-FFF2-40B4-BE49-F238E27FC236}">
                <a16:creationId xmlns:a16="http://schemas.microsoft.com/office/drawing/2014/main" id="{92910B43-22F2-4BC6-A8AB-0F1F4BAA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124325"/>
            <a:ext cx="16383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3655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5B"/>
                </a:solidFill>
                <a:latin typeface="Aptos"/>
                <a:ea typeface="Aptos"/>
                <a:cs typeface="Aptos"/>
              </a:rPr>
              <a:t>Live weather for the detected area</a:t>
            </a:r>
          </a:p>
        </p:txBody>
      </p:sp>
      <p:sp>
        <p:nvSpPr>
          <p:cNvPr id="21" name="stage-dot-4">
            <a:extLst xmlns:a="http://schemas.openxmlformats.org/drawingml/2006/main">
              <a:ext uri="{FF2B5EF4-FFF2-40B4-BE49-F238E27FC236}">
                <a16:creationId xmlns:a16="http://schemas.microsoft.com/office/drawing/2014/main" id="{2668440C-3908-4B67-BE29-205C30F4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813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E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tage-num-4">
            <a:extLst xmlns:a="http://schemas.openxmlformats.org/drawingml/2006/main">
              <a:ext uri="{FF2B5EF4-FFF2-40B4-BE49-F238E27FC236}">
                <a16:creationId xmlns:a16="http://schemas.microsoft.com/office/drawing/2014/main" id="{EB31F4E9-7155-422D-A7C0-E95B306C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099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3" name="stage-head-4">
            <a:extLst xmlns:a="http://schemas.openxmlformats.org/drawingml/2006/main">
              <a:ext uri="{FF2B5EF4-FFF2-40B4-BE49-F238E27FC236}">
                <a16:creationId xmlns:a16="http://schemas.microsoft.com/office/drawing/2014/main" id="{499882F8-CBBD-4B92-AAF6-48CFC6C6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05225"/>
            <a:ext cx="1638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023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31A"/>
                </a:solidFill>
                <a:latin typeface="Aptos"/>
                <a:ea typeface="Aptos"/>
                <a:cs typeface="Aptos"/>
              </a:rPr>
              <a:t>Save</a:t>
            </a:r>
          </a:p>
        </p:txBody>
      </p:sp>
      <p:sp>
        <p:nvSpPr>
          <p:cNvPr id="24" name="stage-body-4">
            <a:extLst xmlns:a="http://schemas.openxmlformats.org/drawingml/2006/main">
              <a:ext uri="{FF2B5EF4-FFF2-40B4-BE49-F238E27FC236}">
                <a16:creationId xmlns:a16="http://schemas.microsoft.com/office/drawing/2014/main" id="{6B261002-883D-4C2B-BF4C-40563DD2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24325"/>
            <a:ext cx="16383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3655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5B"/>
                </a:solidFill>
                <a:latin typeface="Aptos"/>
                <a:ea typeface="Aptos"/>
                <a:cs typeface="Aptos"/>
              </a:rPr>
              <a:t>Local API record and scan history</a:t>
            </a:r>
          </a:p>
        </p:txBody>
      </p:sp>
      <p:sp>
        <p:nvSpPr>
          <p:cNvPr id="25" name="stage-dot-5">
            <a:extLst xmlns:a="http://schemas.openxmlformats.org/drawingml/2006/main">
              <a:ext uri="{FF2B5EF4-FFF2-40B4-BE49-F238E27FC236}">
                <a16:creationId xmlns:a16="http://schemas.microsoft.com/office/drawing/2014/main" id="{35075F5C-045E-476B-B5F5-FACBB73C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31813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9E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tage-num-5">
            <a:extLst xmlns:a="http://schemas.openxmlformats.org/drawingml/2006/main">
              <a:ext uri="{FF2B5EF4-FFF2-40B4-BE49-F238E27FC236}">
                <a16:creationId xmlns:a16="http://schemas.microsoft.com/office/drawing/2014/main" id="{366F2076-3526-4046-9D30-675F72F2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3209925"/>
            <a:ext cx="266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7" name="stage-head-5">
            <a:extLst xmlns:a="http://schemas.openxmlformats.org/drawingml/2006/main">
              <a:ext uri="{FF2B5EF4-FFF2-40B4-BE49-F238E27FC236}">
                <a16:creationId xmlns:a16="http://schemas.microsoft.com/office/drawing/2014/main" id="{F048E0D9-5DE0-4B8B-9DBD-81717C57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705225"/>
            <a:ext cx="1638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0231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31A"/>
                </a:solidFill>
                <a:latin typeface="Aptos"/>
                <a:ea typeface="Aptos"/>
                <a:cs typeface="Aptos"/>
              </a:rPr>
              <a:t>Explore</a:t>
            </a:r>
          </a:p>
        </p:txBody>
      </p:sp>
      <p:sp>
        <p:nvSpPr>
          <p:cNvPr id="28" name="stage-body-5">
            <a:extLst xmlns:a="http://schemas.openxmlformats.org/drawingml/2006/main">
              <a:ext uri="{FF2B5EF4-FFF2-40B4-BE49-F238E27FC236}">
                <a16:creationId xmlns:a16="http://schemas.microsoft.com/office/drawing/2014/main" id="{9F539867-0F76-4F38-9DA5-E97FB5A2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124325"/>
            <a:ext cx="16383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3655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5B"/>
                </a:solidFill>
                <a:latin typeface="Aptos"/>
                <a:ea typeface="Aptos"/>
                <a:cs typeface="Aptos"/>
              </a:rPr>
              <a:t>Privacy-reduced regional patterns</a:t>
            </a:r>
          </a:p>
        </p:txBody>
      </p:sp>
      <p:sp>
        <p:nvSpPr>
          <p:cNvPr id="29" name="stack-rail">
            <a:extLst xmlns:a="http://schemas.openxmlformats.org/drawingml/2006/main">
              <a:ext uri="{FF2B5EF4-FFF2-40B4-BE49-F238E27FC236}">
                <a16:creationId xmlns:a16="http://schemas.microsoft.com/office/drawing/2014/main" id="{92C42E34-8C86-4C46-8BF7-093A5F99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53050"/>
            <a:ext cx="11125200" cy="733425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0B2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stack-label">
            <a:extLst xmlns:a="http://schemas.openxmlformats.org/drawingml/2006/main">
              <a:ext uri="{FF2B5EF4-FFF2-40B4-BE49-F238E27FC236}">
                <a16:creationId xmlns:a16="http://schemas.microsoft.com/office/drawing/2014/main" id="{60E52CF0-8714-44A2-90AF-431CDF7F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149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29E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29E38"/>
                </a:solidFill>
                <a:latin typeface="Aptos"/>
                <a:ea typeface="Aptos"/>
                <a:cs typeface="Aptos"/>
              </a:rPr>
              <a:t>CURRENT ENGINEERING SURFACE</a:t>
            </a:r>
          </a:p>
        </p:txBody>
      </p:sp>
      <p:sp>
        <p:nvSpPr>
          <p:cNvPr id="31" name="stack-copy">
            <a:extLst xmlns:a="http://schemas.openxmlformats.org/drawingml/2006/main">
              <a:ext uri="{FF2B5EF4-FFF2-40B4-BE49-F238E27FC236}">
                <a16:creationId xmlns:a16="http://schemas.microsoft.com/office/drawing/2014/main" id="{7BD45496-C47B-48A8-8A61-08611504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62625"/>
            <a:ext cx="1066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React web app  •  Express API  •  local database  •  EfficientNetV2-S pipeline  •  Open-Meteo  •  Gemini explanations  •  regional analytics</a:t>
            </a:r>
          </a:p>
        </p:txBody>
      </p:sp>
      <p:sp>
        <p:nvSpPr>
          <p:cNvPr id="32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EDB43FB7-CE67-4B22-ADF0-F337B7CE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footer-brand-3">
            <a:extLst xmlns:a="http://schemas.openxmlformats.org/drawingml/2006/main">
              <a:ext uri="{FF2B5EF4-FFF2-40B4-BE49-F238E27FC236}">
                <a16:creationId xmlns:a16="http://schemas.microsoft.com/office/drawing/2014/main" id="{9F4DFC38-2415-4926-A86E-5D2EE24E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365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3655B"/>
                </a:solidFill>
                <a:latin typeface="Aptos"/>
                <a:ea typeface="Aptos"/>
                <a:cs typeface="Aptos"/>
              </a:rPr>
              <a:t>Wellfarm  •  Portfolio overview</a:t>
            </a:r>
          </a:p>
        </p:txBody>
      </p:sp>
      <p:sp>
        <p:nvSpPr>
          <p:cNvPr id="34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BADA0EC5-1FA5-4389-95A8-E5D7B339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3655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5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295797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-4">
            <a:extLst xmlns:a="http://schemas.openxmlformats.org/drawingml/2006/main">
              <a:ext uri="{FF2B5EF4-FFF2-40B4-BE49-F238E27FC236}">
                <a16:creationId xmlns:a16="http://schemas.microsoft.com/office/drawing/2014/main" id="{5D376E7A-AF01-40A3-9F64-4842F455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76B4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6B47"/>
                </a:solidFill>
                <a:latin typeface="Aptos"/>
                <a:ea typeface="Aptos"/>
                <a:cs typeface="Aptos"/>
              </a:rPr>
              <a:t>04  IMPLEMENTATION STATUS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670C1A7E-8D1C-405B-A9F7-434E9C10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10231A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0231A"/>
                </a:solidFill>
                <a:latin typeface="Aptos"/>
                <a:ea typeface="Aptos"/>
                <a:cs typeface="Aptos"/>
              </a:rPr>
              <a:t>A real product build, with honest data boundaries</a:t>
            </a:r>
          </a:p>
        </p:txBody>
      </p:sp>
      <p:sp>
        <p:nvSpPr>
          <p:cNvPr id="3" name="subtitle-4">
            <a:extLst xmlns:a="http://schemas.openxmlformats.org/drawingml/2006/main">
              <a:ext uri="{FF2B5EF4-FFF2-40B4-BE49-F238E27FC236}">
                <a16:creationId xmlns:a16="http://schemas.microsoft.com/office/drawing/2014/main" id="{3772B8BE-6E5A-4819-AEF1-4DC642A1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3655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55B"/>
                </a:solidFill>
                <a:latin typeface="Aptos"/>
                <a:ea typeface="Aptos"/>
                <a:cs typeface="Aptos"/>
              </a:rPr>
              <a:t>The repository separates working software, sample analytical views, and model work still in progress.</a:t>
            </a:r>
          </a:p>
        </p:txBody>
      </p:sp>
      <p:sp>
        <p:nvSpPr>
          <p:cNvPr id="4" name="r1-panel">
            <a:extLst xmlns:a="http://schemas.openxmlformats.org/drawingml/2006/main">
              <a:ext uri="{FF2B5EF4-FFF2-40B4-BE49-F238E27FC236}">
                <a16:creationId xmlns:a16="http://schemas.microsoft.com/office/drawing/2014/main" id="{03FEB4D8-2D92-4404-B2EE-FD44D723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81225"/>
            <a:ext cx="5314950" cy="24193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1-title">
            <a:extLst xmlns:a="http://schemas.openxmlformats.org/drawingml/2006/main">
              <a:ext uri="{FF2B5EF4-FFF2-40B4-BE49-F238E27FC236}">
                <a16:creationId xmlns:a16="http://schemas.microsoft.com/office/drawing/2014/main" id="{6F9FDA3D-14D7-4361-8EC9-6AA20AE8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98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76B4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6B47"/>
                </a:solidFill>
                <a:latin typeface="Aptos"/>
                <a:ea typeface="Aptos"/>
                <a:cs typeface="Aptos"/>
              </a:rPr>
              <a:t>WORKING NOW</a:t>
            </a:r>
          </a:p>
        </p:txBody>
      </p:sp>
      <p:sp>
        <p:nvSpPr>
          <p:cNvPr id="6" name="r1-bullets">
            <a:extLst xmlns:a="http://schemas.openxmlformats.org/drawingml/2006/main">
              <a:ext uri="{FF2B5EF4-FFF2-40B4-BE49-F238E27FC236}">
                <a16:creationId xmlns:a16="http://schemas.microsoft.com/office/drawing/2014/main" id="{97E2C232-B249-4566-BA77-0BDC5027A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1" indent="-12" algn="l">
              <a:lnSpc>
                <a:spcPct val="110000"/>
              </a:lnSpc>
              <a:spcAft>
                <a:spcPts val="9"/>
              </a:spcAft>
              <a:buNone/>
              <a:defRPr sz="1350" b="0">
                <a:solidFill>
                  <a:srgbClr val="1023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1A"/>
                </a:solidFill>
                <a:latin typeface="Aptos"/>
                <a:ea typeface="Aptos"/>
                <a:cs typeface="Aptos"/>
              </a:rPr>
              <a:t>Product: farmer scan journey, GPS place label, live weather, local scan history</a:t>
            </a:r>
          </a:p>
          <a:p xmlns:a="http://schemas.openxmlformats.org/drawingml/2006/main">
            <a:pPr marL="21" indent="-12" algn="l">
              <a:lnSpc>
                <a:spcPct val="110000"/>
              </a:lnSpc>
              <a:spcAft>
                <a:spcPts val="9"/>
              </a:spcAft>
              <a:buNone/>
              <a:defRPr sz="1350" b="0">
                <a:solidFill>
                  <a:srgbClr val="1023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1A"/>
                </a:solidFill>
                <a:latin typeface="Aptos"/>
                <a:ea typeface="Aptos"/>
                <a:cs typeface="Aptos"/>
              </a:rPr>
              <a:t>Platform: React client, Express API, typed contracts, database layer</a:t>
            </a:r>
          </a:p>
          <a:p xmlns:a="http://schemas.openxmlformats.org/drawingml/2006/main">
            <a:pPr marL="21" indent="-12" algn="l">
              <a:lnSpc>
                <a:spcPct val="110000"/>
              </a:lnSpc>
              <a:spcAft>
                <a:spcPts val="9"/>
              </a:spcAft>
              <a:buNone/>
              <a:defRPr sz="1350" b="0">
                <a:solidFill>
                  <a:srgbClr val="1023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1A"/>
                </a:solidFill>
                <a:latin typeface="Aptos"/>
                <a:ea typeface="Aptos"/>
                <a:cs typeface="Aptos"/>
              </a:rPr>
              <a:t>Portfolio data: deterministic sample records for regional exploration</a:t>
            </a:r>
          </a:p>
        </p:txBody>
      </p:sp>
      <p:sp>
        <p:nvSpPr>
          <p:cNvPr id="7" name="pilot-panel">
            <a:extLst xmlns:a="http://schemas.openxmlformats.org/drawingml/2006/main">
              <a:ext uri="{FF2B5EF4-FFF2-40B4-BE49-F238E27FC236}">
                <a16:creationId xmlns:a16="http://schemas.microsoft.com/office/drawing/2014/main" id="{6129FC6E-1110-4281-8EB0-E74633FD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81225"/>
            <a:ext cx="5314950" cy="24193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7F8F2"/>
          </a:solidFill>
          <a:ln xmlns:a="http://schemas.openxmlformats.org/drawingml/2006/main" w="9525">
            <a:solidFill>
              <a:srgbClr val="C7D4CC"/>
            </a:solidFill>
            <a:prstDash val="solid"/>
          </a:ln>
        </p:spPr>
      </p:sp>
      <p:sp>
        <p:nvSpPr>
          <p:cNvPr id="8" name="pilot-title">
            <a:extLst xmlns:a="http://schemas.openxmlformats.org/drawingml/2006/main">
              <a:ext uri="{FF2B5EF4-FFF2-40B4-BE49-F238E27FC236}">
                <a16:creationId xmlns:a16="http://schemas.microsoft.com/office/drawing/2014/main" id="{FC612410-4A1D-4E6F-A29D-1730A0B6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0982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29E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29E38"/>
                </a:solidFill>
                <a:latin typeface="Aptos"/>
                <a:ea typeface="Aptos"/>
                <a:cs typeface="Aptos"/>
              </a:rPr>
              <a:t>NEXT ENGINEERING MILESTONES</a:t>
            </a:r>
          </a:p>
        </p:txBody>
      </p:sp>
      <p:sp>
        <p:nvSpPr>
          <p:cNvPr id="9" name="pilot-bullets">
            <a:extLst xmlns:a="http://schemas.openxmlformats.org/drawingml/2006/main">
              <a:ext uri="{FF2B5EF4-FFF2-40B4-BE49-F238E27FC236}">
                <a16:creationId xmlns:a16="http://schemas.microsoft.com/office/drawing/2014/main" id="{961B7250-EB92-45D4-BD42-7C276A33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5750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1" indent="-12" algn="l">
              <a:lnSpc>
                <a:spcPct val="110000"/>
              </a:lnSpc>
              <a:spcAft>
                <a:spcPts val="9"/>
              </a:spcAft>
              <a:buNone/>
              <a:defRPr sz="1350" b="0">
                <a:solidFill>
                  <a:srgbClr val="1023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1A"/>
                </a:solidFill>
                <a:latin typeface="Aptos"/>
                <a:ea typeface="Aptos"/>
                <a:cs typeface="Aptos"/>
              </a:rPr>
              <a:t>Data: audit labels, remove duplicates, document licenses, lock source-aware splits</a:t>
            </a:r>
          </a:p>
          <a:p xmlns:a="http://schemas.openxmlformats.org/drawingml/2006/main">
            <a:pPr marL="21" indent="-12" algn="l">
              <a:lnSpc>
                <a:spcPct val="110000"/>
              </a:lnSpc>
              <a:spcAft>
                <a:spcPts val="9"/>
              </a:spcAft>
              <a:buNone/>
              <a:defRPr sz="1350" b="0">
                <a:solidFill>
                  <a:srgbClr val="1023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1A"/>
                </a:solidFill>
                <a:latin typeface="Aptos"/>
                <a:ea typeface="Aptos"/>
                <a:cs typeface="Aptos"/>
              </a:rPr>
              <a:t>Model: train and evaluate EfficientNetV2-S with calibration and rejection tests</a:t>
            </a:r>
          </a:p>
          <a:p xmlns:a="http://schemas.openxmlformats.org/drawingml/2006/main">
            <a:pPr marL="21" indent="-12" algn="l">
              <a:lnSpc>
                <a:spcPct val="110000"/>
              </a:lnSpc>
              <a:spcAft>
                <a:spcPts val="9"/>
              </a:spcAft>
              <a:buNone/>
              <a:defRPr sz="1350" b="0">
                <a:solidFill>
                  <a:srgbClr val="1023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1A"/>
                </a:solidFill>
                <a:latin typeface="Aptos"/>
                <a:ea typeface="Aptos"/>
                <a:cs typeface="Aptos"/>
              </a:rPr>
              <a:t>Product: strengthen persistence, accessibility, multilingual coverage, and deployment</a:t>
            </a:r>
          </a:p>
        </p:txBody>
      </p:sp>
      <p:sp>
        <p:nvSpPr>
          <p:cNvPr id="10" name="risk-heading">
            <a:extLst xmlns:a="http://schemas.openxmlformats.org/drawingml/2006/main">
              <a:ext uri="{FF2B5EF4-FFF2-40B4-BE49-F238E27FC236}">
                <a16:creationId xmlns:a16="http://schemas.microsoft.com/office/drawing/2014/main" id="{3DC114D9-522F-484B-B816-4CBB2C5C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3395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0231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31A"/>
                </a:solidFill>
                <a:latin typeface="Aptos"/>
                <a:ea typeface="Aptos"/>
                <a:cs typeface="Aptos"/>
              </a:rPr>
              <a:t>MAIN RISKS → BUILT-IN RESPONSES</a:t>
            </a:r>
          </a:p>
        </p:txBody>
      </p:sp>
      <p:sp>
        <p:nvSpPr>
          <p:cNvPr id="11" name="risk-rule-0">
            <a:extLst xmlns:a="http://schemas.openxmlformats.org/drawingml/2006/main">
              <a:ext uri="{FF2B5EF4-FFF2-40B4-BE49-F238E27FC236}">
                <a16:creationId xmlns:a16="http://schemas.microsoft.com/office/drawing/2014/main" id="{C3685AE8-E62A-44CF-8AA6-8AA1A71E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2447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5A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isk-h-0">
            <a:extLst xmlns:a="http://schemas.openxmlformats.org/drawingml/2006/main">
              <a:ext uri="{FF2B5EF4-FFF2-40B4-BE49-F238E27FC236}">
                <a16:creationId xmlns:a16="http://schemas.microsoft.com/office/drawing/2014/main" id="{D596EBA2-60E1-440A-9038-A84FDA5B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7687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023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1A"/>
                </a:solidFill>
                <a:latin typeface="Aptos"/>
                <a:ea typeface="Aptos"/>
                <a:cs typeface="Aptos"/>
              </a:rPr>
              <a:t>Misclassification</a:t>
            </a:r>
          </a:p>
        </p:txBody>
      </p:sp>
      <p:sp>
        <p:nvSpPr>
          <p:cNvPr id="13" name="risk-b-0">
            <a:extLst xmlns:a="http://schemas.openxmlformats.org/drawingml/2006/main">
              <a:ext uri="{FF2B5EF4-FFF2-40B4-BE49-F238E27FC236}">
                <a16:creationId xmlns:a16="http://schemas.microsoft.com/office/drawing/2014/main" id="{22DC5924-AACD-40E0-B272-6907452F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816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3655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5B"/>
                </a:solidFill>
                <a:latin typeface="Aptos"/>
                <a:ea typeface="Aptos"/>
                <a:cs typeface="Aptos"/>
              </a:rPr>
              <a:t>Confidence, unsupported-image states, and cautious language</a:t>
            </a:r>
          </a:p>
        </p:txBody>
      </p:sp>
      <p:sp>
        <p:nvSpPr>
          <p:cNvPr id="14" name="risk-rule-1">
            <a:extLst xmlns:a="http://schemas.openxmlformats.org/drawingml/2006/main">
              <a:ext uri="{FF2B5EF4-FFF2-40B4-BE49-F238E27FC236}">
                <a16:creationId xmlns:a16="http://schemas.microsoft.com/office/drawing/2014/main" id="{87EA8964-7659-4FFB-A116-1C5FCA0A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32447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isk-h-1">
            <a:extLst xmlns:a="http://schemas.openxmlformats.org/drawingml/2006/main">
              <a:ext uri="{FF2B5EF4-FFF2-40B4-BE49-F238E27FC236}">
                <a16:creationId xmlns:a16="http://schemas.microsoft.com/office/drawing/2014/main" id="{160EE6AC-E6ED-438D-85BB-C9A2E1AE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47687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023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1A"/>
                </a:solidFill>
                <a:latin typeface="Aptos"/>
                <a:ea typeface="Aptos"/>
                <a:cs typeface="Aptos"/>
              </a:rPr>
              <a:t>Unsafe action</a:t>
            </a:r>
          </a:p>
        </p:txBody>
      </p:sp>
      <p:sp>
        <p:nvSpPr>
          <p:cNvPr id="16" name="risk-b-1">
            <a:extLst xmlns:a="http://schemas.openxmlformats.org/drawingml/2006/main">
              <a:ext uri="{FF2B5EF4-FFF2-40B4-BE49-F238E27FC236}">
                <a16:creationId xmlns:a16="http://schemas.microsoft.com/office/drawing/2014/main" id="{1400AA94-D6E6-43D9-B932-5DACA8B6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7816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3655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5B"/>
                </a:solidFill>
                <a:latin typeface="Aptos"/>
                <a:ea typeface="Aptos"/>
                <a:cs typeface="Aptos"/>
              </a:rPr>
              <a:t>Non-prescriptive guidance and explicit uncertainty</a:t>
            </a:r>
          </a:p>
        </p:txBody>
      </p:sp>
      <p:sp>
        <p:nvSpPr>
          <p:cNvPr id="17" name="risk-rule-2">
            <a:extLst xmlns:a="http://schemas.openxmlformats.org/drawingml/2006/main">
              <a:ext uri="{FF2B5EF4-FFF2-40B4-BE49-F238E27FC236}">
                <a16:creationId xmlns:a16="http://schemas.microsoft.com/office/drawing/2014/main" id="{4BB3FD68-06B2-468A-B8EC-5F649A93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32447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isk-h-2">
            <a:extLst xmlns:a="http://schemas.openxmlformats.org/drawingml/2006/main">
              <a:ext uri="{FF2B5EF4-FFF2-40B4-BE49-F238E27FC236}">
                <a16:creationId xmlns:a16="http://schemas.microsoft.com/office/drawing/2014/main" id="{E0F848E3-FA1C-4CFF-A786-47BA13B9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47687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023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1A"/>
                </a:solidFill>
                <a:latin typeface="Aptos"/>
                <a:ea typeface="Aptos"/>
                <a:cs typeface="Aptos"/>
              </a:rPr>
              <a:t>Privacy</a:t>
            </a:r>
          </a:p>
        </p:txBody>
      </p:sp>
      <p:sp>
        <p:nvSpPr>
          <p:cNvPr id="19" name="risk-b-2">
            <a:extLst xmlns:a="http://schemas.openxmlformats.org/drawingml/2006/main">
              <a:ext uri="{FF2B5EF4-FFF2-40B4-BE49-F238E27FC236}">
                <a16:creationId xmlns:a16="http://schemas.microsoft.com/office/drawing/2014/main" id="{6673CC72-5E80-4C64-8D0A-51CDFB40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7816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53655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5B"/>
                </a:solidFill>
                <a:latin typeface="Aptos"/>
                <a:ea typeface="Aptos"/>
                <a:cs typeface="Aptos"/>
              </a:rPr>
              <a:t>Approximate location and no external submission workflow</a:t>
            </a:r>
          </a:p>
        </p:txBody>
      </p:sp>
      <p:sp>
        <p:nvSpPr>
          <p:cNvPr id="20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AA6CB296-C31C-4CBD-9CF4-C16B48EC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ooter-brand-4">
            <a:extLst xmlns:a="http://schemas.openxmlformats.org/drawingml/2006/main">
              <a:ext uri="{FF2B5EF4-FFF2-40B4-BE49-F238E27FC236}">
                <a16:creationId xmlns:a16="http://schemas.microsoft.com/office/drawing/2014/main" id="{CD016098-9F98-4F7D-97B5-C2D4AE51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365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3655B"/>
                </a:solidFill>
                <a:latin typeface="Aptos"/>
                <a:ea typeface="Aptos"/>
                <a:cs typeface="Aptos"/>
              </a:rPr>
              <a:t>Wellfarm  •  Portfolio overview</a:t>
            </a:r>
          </a:p>
        </p:txBody>
      </p:sp>
      <p:sp>
        <p:nvSpPr>
          <p:cNvPr id="22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2C3467E3-93DA-4C79-8EA5-6B49E7D9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3655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5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528132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kicker-5">
            <a:extLst xmlns:a="http://schemas.openxmlformats.org/drawingml/2006/main">
              <a:ext uri="{FF2B5EF4-FFF2-40B4-BE49-F238E27FC236}">
                <a16:creationId xmlns:a16="http://schemas.microsoft.com/office/drawing/2014/main" id="{7BFE5D38-3F8D-4788-973D-A794D75E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76B4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6B47"/>
                </a:solidFill>
                <a:latin typeface="Aptos"/>
                <a:ea typeface="Aptos"/>
                <a:cs typeface="Aptos"/>
              </a:rPr>
              <a:t>05  PORTFOLIO CAPABILITIES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403EB2AD-8FEC-4C7E-A634-18D0F092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10231A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0231A"/>
                </a:solidFill>
                <a:latin typeface="Aptos"/>
                <a:ea typeface="Aptos"/>
                <a:cs typeface="Aptos"/>
              </a:rPr>
              <a:t>Three surfaces show the system end to end</a:t>
            </a:r>
          </a:p>
        </p:txBody>
      </p:sp>
      <p:sp>
        <p:nvSpPr>
          <p:cNvPr id="3" name="subtitle-5">
            <a:extLst xmlns:a="http://schemas.openxmlformats.org/drawingml/2006/main">
              <a:ext uri="{FF2B5EF4-FFF2-40B4-BE49-F238E27FC236}">
                <a16:creationId xmlns:a16="http://schemas.microsoft.com/office/drawing/2014/main" id="{C2D1EAA0-5069-459D-B894-4C95BC8F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3655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55B"/>
                </a:solidFill>
                <a:latin typeface="Aptos"/>
                <a:ea typeface="Aptos"/>
                <a:cs typeface="Aptos"/>
              </a:rPr>
              <a:t>Wellfarm demonstrates product design, applied ML, backend engineering, and responsible data communication in one coherent build.</a:t>
            </a:r>
          </a:p>
        </p:txBody>
      </p:sp>
      <p:sp>
        <p:nvSpPr>
          <p:cNvPr id="4" name="impact-who-0">
            <a:extLst xmlns:a="http://schemas.openxmlformats.org/drawingml/2006/main">
              <a:ext uri="{FF2B5EF4-FFF2-40B4-BE49-F238E27FC236}">
                <a16:creationId xmlns:a16="http://schemas.microsoft.com/office/drawing/2014/main" id="{F08444EE-2C13-4F28-9CBF-D22E23E3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3086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76B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B47"/>
                </a:solidFill>
                <a:latin typeface="Aptos"/>
                <a:ea typeface="Aptos"/>
                <a:cs typeface="Aptos"/>
              </a:rPr>
              <a:t>FARMER EXPERIENCE</a:t>
            </a:r>
          </a:p>
        </p:txBody>
      </p:sp>
      <p:sp>
        <p:nvSpPr>
          <p:cNvPr id="5" name="impact-value-0">
            <a:extLst xmlns:a="http://schemas.openxmlformats.org/drawingml/2006/main">
              <a:ext uri="{FF2B5EF4-FFF2-40B4-BE49-F238E27FC236}">
                <a16:creationId xmlns:a16="http://schemas.microsoft.com/office/drawing/2014/main" id="{B8D1DFFF-B5B1-4406-986C-33406516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3086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0231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231A"/>
                </a:solidFill>
                <a:latin typeface="Aptos"/>
                <a:ea typeface="Aptos"/>
                <a:cs typeface="Aptos"/>
              </a:rPr>
              <a:t>Field-first interaction</a:t>
            </a:r>
          </a:p>
        </p:txBody>
      </p:sp>
      <p:sp>
        <p:nvSpPr>
          <p:cNvPr id="6" name="impact-rule-0">
            <a:extLst xmlns:a="http://schemas.openxmlformats.org/drawingml/2006/main">
              <a:ext uri="{FF2B5EF4-FFF2-40B4-BE49-F238E27FC236}">
                <a16:creationId xmlns:a16="http://schemas.microsoft.com/office/drawing/2014/main" id="{CA66938B-710D-4351-B675-2EBE8879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90900"/>
            <a:ext cx="3086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impact-body-0">
            <a:extLst xmlns:a="http://schemas.openxmlformats.org/drawingml/2006/main">
              <a:ext uri="{FF2B5EF4-FFF2-40B4-BE49-F238E27FC236}">
                <a16:creationId xmlns:a16="http://schemas.microsoft.com/office/drawing/2014/main" id="{8802007C-C9D7-4AC8-B21C-DB7959D1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29025"/>
            <a:ext cx="30861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53655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55B"/>
                </a:solidFill>
                <a:latin typeface="Aptos"/>
                <a:ea typeface="Aptos"/>
                <a:cs typeface="Aptos"/>
              </a:rPr>
              <a:t>Camera upload, crop details, GPS-derived place label, live weather context, clear uncertainty, and scan history.</a:t>
            </a:r>
          </a:p>
        </p:txBody>
      </p:sp>
      <p:sp>
        <p:nvSpPr>
          <p:cNvPr id="8" name="impact-kpi-box-0">
            <a:extLst xmlns:a="http://schemas.openxmlformats.org/drawingml/2006/main">
              <a:ext uri="{FF2B5EF4-FFF2-40B4-BE49-F238E27FC236}">
                <a16:creationId xmlns:a16="http://schemas.microsoft.com/office/drawing/2014/main" id="{56B620FA-44AE-41EF-BD3E-B744BDE0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33950"/>
            <a:ext cx="3086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4CC"/>
            </a:solidFill>
            <a:prstDash val="solid"/>
          </a:ln>
        </p:spPr>
      </p:sp>
      <p:sp>
        <p:nvSpPr>
          <p:cNvPr id="9" name="impact-kpi-0">
            <a:extLst xmlns:a="http://schemas.openxmlformats.org/drawingml/2006/main">
              <a:ext uri="{FF2B5EF4-FFF2-40B4-BE49-F238E27FC236}">
                <a16:creationId xmlns:a16="http://schemas.microsoft.com/office/drawing/2014/main" id="{9B136D79-AEDD-4979-8919-B7C430E7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023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31A"/>
                </a:solidFill>
                <a:latin typeface="Aptos"/>
                <a:ea typeface="Aptos"/>
                <a:cs typeface="Aptos"/>
              </a:rPr>
              <a:t>Proof: responsive scan journey + local records</a:t>
            </a:r>
          </a:p>
        </p:txBody>
      </p:sp>
      <p:sp>
        <p:nvSpPr>
          <p:cNvPr id="10" name="impact-who-1">
            <a:extLst xmlns:a="http://schemas.openxmlformats.org/drawingml/2006/main">
              <a:ext uri="{FF2B5EF4-FFF2-40B4-BE49-F238E27FC236}">
                <a16:creationId xmlns:a16="http://schemas.microsoft.com/office/drawing/2014/main" id="{28A6BCB4-B1C2-4D8B-8AAC-CB02D86B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66950"/>
            <a:ext cx="3086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29E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9E38"/>
                </a:solidFill>
                <a:latin typeface="Aptos"/>
                <a:ea typeface="Aptos"/>
                <a:cs typeface="Aptos"/>
              </a:rPr>
              <a:t>INTELLIGENCE LAYER</a:t>
            </a:r>
          </a:p>
        </p:txBody>
      </p:sp>
      <p:sp>
        <p:nvSpPr>
          <p:cNvPr id="11" name="impact-value-1">
            <a:extLst xmlns:a="http://schemas.openxmlformats.org/drawingml/2006/main">
              <a:ext uri="{FF2B5EF4-FFF2-40B4-BE49-F238E27FC236}">
                <a16:creationId xmlns:a16="http://schemas.microsoft.com/office/drawing/2014/main" id="{855F3EF7-DD3D-4E23-ADEA-17615F1C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47950"/>
            <a:ext cx="3086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0231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231A"/>
                </a:solidFill>
                <a:latin typeface="Aptos"/>
                <a:ea typeface="Aptos"/>
                <a:cs typeface="Aptos"/>
              </a:rPr>
              <a:t>Explainable context</a:t>
            </a:r>
          </a:p>
        </p:txBody>
      </p:sp>
      <p:sp>
        <p:nvSpPr>
          <p:cNvPr id="12" name="impact-rule-1">
            <a:extLst xmlns:a="http://schemas.openxmlformats.org/drawingml/2006/main">
              <a:ext uri="{FF2B5EF4-FFF2-40B4-BE49-F238E27FC236}">
                <a16:creationId xmlns:a16="http://schemas.microsoft.com/office/drawing/2014/main" id="{8A650544-1736-4A91-A4E3-99A07E01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90900"/>
            <a:ext cx="3086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E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impact-body-1">
            <a:extLst xmlns:a="http://schemas.openxmlformats.org/drawingml/2006/main">
              <a:ext uri="{FF2B5EF4-FFF2-40B4-BE49-F238E27FC236}">
                <a16:creationId xmlns:a16="http://schemas.microsoft.com/office/drawing/2014/main" id="{C2CFBFBB-DB85-4A6A-A4F1-E15DF235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29025"/>
            <a:ext cx="30861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53655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55B"/>
                </a:solidFill>
                <a:latin typeface="Aptos"/>
                <a:ea typeface="Aptos"/>
                <a:cs typeface="Aptos"/>
              </a:rPr>
              <a:t>Condition confidence, severity logic, weather context, and regional comparisons with provenance on every signal.</a:t>
            </a:r>
          </a:p>
        </p:txBody>
      </p:sp>
      <p:sp>
        <p:nvSpPr>
          <p:cNvPr id="14" name="impact-kpi-box-1">
            <a:extLst xmlns:a="http://schemas.openxmlformats.org/drawingml/2006/main">
              <a:ext uri="{FF2B5EF4-FFF2-40B4-BE49-F238E27FC236}">
                <a16:creationId xmlns:a16="http://schemas.microsoft.com/office/drawing/2014/main" id="{23C4296D-EF32-4A22-8480-3F5E9CDC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33950"/>
            <a:ext cx="3086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4CC"/>
            </a:solidFill>
            <a:prstDash val="solid"/>
          </a:ln>
        </p:spPr>
      </p:sp>
      <p:sp>
        <p:nvSpPr>
          <p:cNvPr id="15" name="impact-kpi-1">
            <a:extLst xmlns:a="http://schemas.openxmlformats.org/drawingml/2006/main">
              <a:ext uri="{FF2B5EF4-FFF2-40B4-BE49-F238E27FC236}">
                <a16:creationId xmlns:a16="http://schemas.microsoft.com/office/drawing/2014/main" id="{9E4C0535-0785-4771-95BE-5A71AEF0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10540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023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31A"/>
                </a:solidFill>
                <a:latin typeface="Aptos"/>
                <a:ea typeface="Aptos"/>
                <a:cs typeface="Aptos"/>
              </a:rPr>
              <a:t>Proof: transparent result + pattern views</a:t>
            </a:r>
          </a:p>
        </p:txBody>
      </p:sp>
      <p:sp>
        <p:nvSpPr>
          <p:cNvPr id="16" name="impact-who-2">
            <a:extLst xmlns:a="http://schemas.openxmlformats.org/drawingml/2006/main">
              <a:ext uri="{FF2B5EF4-FFF2-40B4-BE49-F238E27FC236}">
                <a16:creationId xmlns:a16="http://schemas.microsoft.com/office/drawing/2014/main" id="{3CE66E69-2FE6-4EB5-B28C-8CC474911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66950"/>
            <a:ext cx="3086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76B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B47"/>
                </a:solidFill>
                <a:latin typeface="Aptos"/>
                <a:ea typeface="Aptos"/>
                <a:cs typeface="Aptos"/>
              </a:rPr>
              <a:t>ENGINEERING DEPTH</a:t>
            </a:r>
          </a:p>
        </p:txBody>
      </p:sp>
      <p:sp>
        <p:nvSpPr>
          <p:cNvPr id="17" name="impact-value-2">
            <a:extLst xmlns:a="http://schemas.openxmlformats.org/drawingml/2006/main">
              <a:ext uri="{FF2B5EF4-FFF2-40B4-BE49-F238E27FC236}">
                <a16:creationId xmlns:a16="http://schemas.microsoft.com/office/drawing/2014/main" id="{FE403B43-5944-48C1-8285-AE3F1652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47950"/>
            <a:ext cx="30861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10231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231A"/>
                </a:solidFill>
                <a:latin typeface="Aptos"/>
                <a:ea typeface="Aptos"/>
                <a:cs typeface="Aptos"/>
              </a:rPr>
              <a:t>Model + data pipeline</a:t>
            </a:r>
          </a:p>
        </p:txBody>
      </p:sp>
      <p:sp>
        <p:nvSpPr>
          <p:cNvPr id="18" name="impact-rule-2">
            <a:extLst xmlns:a="http://schemas.openxmlformats.org/drawingml/2006/main">
              <a:ext uri="{FF2B5EF4-FFF2-40B4-BE49-F238E27FC236}">
                <a16:creationId xmlns:a16="http://schemas.microsoft.com/office/drawing/2014/main" id="{BAFB3770-5E8A-4402-AC3A-FC951AC0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90900"/>
            <a:ext cx="3086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impact-body-2">
            <a:extLst xmlns:a="http://schemas.openxmlformats.org/drawingml/2006/main">
              <a:ext uri="{FF2B5EF4-FFF2-40B4-BE49-F238E27FC236}">
                <a16:creationId xmlns:a16="http://schemas.microsoft.com/office/drawing/2014/main" id="{7D99EB64-6B86-4ED2-A130-DA7DBE02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29025"/>
            <a:ext cx="30861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53655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55B"/>
                </a:solidFill>
                <a:latin typeface="Aptos"/>
                <a:ea typeface="Aptos"/>
                <a:cs typeface="Aptos"/>
              </a:rPr>
              <a:t>Source-aware dataset preparation, deterministic splits, a midweight vision target, typed APIs, and modular services.</a:t>
            </a:r>
          </a:p>
        </p:txBody>
      </p:sp>
      <p:sp>
        <p:nvSpPr>
          <p:cNvPr id="20" name="impact-kpi-box-2">
            <a:extLst xmlns:a="http://schemas.openxmlformats.org/drawingml/2006/main">
              <a:ext uri="{FF2B5EF4-FFF2-40B4-BE49-F238E27FC236}">
                <a16:creationId xmlns:a16="http://schemas.microsoft.com/office/drawing/2014/main" id="{A8196C45-1CE5-4320-9034-5F1D093A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933950"/>
            <a:ext cx="30861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4CC"/>
            </a:solidFill>
            <a:prstDash val="solid"/>
          </a:ln>
        </p:spPr>
      </p:sp>
      <p:sp>
        <p:nvSpPr>
          <p:cNvPr id="21" name="impact-kpi-2">
            <a:extLst xmlns:a="http://schemas.openxmlformats.org/drawingml/2006/main">
              <a:ext uri="{FF2B5EF4-FFF2-40B4-BE49-F238E27FC236}">
                <a16:creationId xmlns:a16="http://schemas.microsoft.com/office/drawing/2014/main" id="{173EE891-0B2C-4395-842F-961B1454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05400"/>
            <a:ext cx="278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0231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231A"/>
                </a:solidFill>
                <a:latin typeface="Aptos"/>
                <a:ea typeface="Aptos"/>
                <a:cs typeface="Aptos"/>
              </a:rPr>
              <a:t>Proof: tested dataset preparation pipeline</a:t>
            </a:r>
          </a:p>
        </p:txBody>
      </p:sp>
      <p:sp>
        <p:nvSpPr>
          <p:cNvPr id="22" name="scale-band">
            <a:extLst xmlns:a="http://schemas.openxmlformats.org/drawingml/2006/main">
              <a:ext uri="{FF2B5EF4-FFF2-40B4-BE49-F238E27FC236}">
                <a16:creationId xmlns:a16="http://schemas.microsoft.com/office/drawing/2014/main" id="{C94E17D1-BBCD-4C17-B881-B9BA69F1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53125"/>
            <a:ext cx="11125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cale-copy">
            <a:extLst xmlns:a="http://schemas.openxmlformats.org/drawingml/2006/main">
              <a:ext uri="{FF2B5EF4-FFF2-40B4-BE49-F238E27FC236}">
                <a16:creationId xmlns:a16="http://schemas.microsoft.com/office/drawing/2014/main" id="{77942CB6-73B4-4F98-BDC4-FFD39CCE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10275"/>
            <a:ext cx="10782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DESIGNED TO GROW  •  modular services  •  versioned contracts  •  replaceable adapters  •  explicit provenance</a:t>
            </a:r>
          </a:p>
        </p:txBody>
      </p:sp>
      <p:sp>
        <p:nvSpPr>
          <p:cNvPr id="24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B66A6B68-0873-494B-9084-CBD5B053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ooter-brand-5">
            <a:extLst xmlns:a="http://schemas.openxmlformats.org/drawingml/2006/main">
              <a:ext uri="{FF2B5EF4-FFF2-40B4-BE49-F238E27FC236}">
                <a16:creationId xmlns:a16="http://schemas.microsoft.com/office/drawing/2014/main" id="{C800A508-A9E8-4A51-A02D-04C75110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365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3655B"/>
                </a:solidFill>
                <a:latin typeface="Aptos"/>
                <a:ea typeface="Aptos"/>
                <a:cs typeface="Aptos"/>
              </a:rPr>
              <a:t>Wellfarm  •  Portfolio overview</a:t>
            </a:r>
          </a:p>
        </p:txBody>
      </p:sp>
      <p:sp>
        <p:nvSpPr>
          <p:cNvPr id="26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E07A7805-C3E8-42D8-8E73-9BC16916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3655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55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343535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-6">
            <a:extLst xmlns:a="http://schemas.openxmlformats.org/drawingml/2006/main">
              <a:ext uri="{FF2B5EF4-FFF2-40B4-BE49-F238E27FC236}">
                <a16:creationId xmlns:a16="http://schemas.microsoft.com/office/drawing/2014/main" id="{9CA60D52-2F89-4F40-8CBB-29649ADC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176B4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6B47"/>
                </a:solidFill>
                <a:latin typeface="Aptos"/>
                <a:ea typeface="Aptos"/>
                <a:cs typeface="Aptos"/>
              </a:rPr>
              <a:t>06  REPOSITORY AND ROADMAP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3FE0AA80-0316-47D9-AAFB-E2B57920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925" b="1">
                <a:solidFill>
                  <a:srgbClr val="10231A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0231A"/>
                </a:solidFill>
                <a:latin typeface="Aptos"/>
                <a:ea typeface="Aptos"/>
                <a:cs typeface="Aptos"/>
              </a:rPr>
              <a:t>Evidence in the repo, not claims on a slide</a:t>
            </a:r>
          </a:p>
        </p:txBody>
      </p:sp>
      <p:sp>
        <p:nvSpPr>
          <p:cNvPr id="3" name="subtitle-6">
            <a:extLst xmlns:a="http://schemas.openxmlformats.org/drawingml/2006/main">
              <a:ext uri="{FF2B5EF4-FFF2-40B4-BE49-F238E27FC236}">
                <a16:creationId xmlns:a16="http://schemas.microsoft.com/office/drawing/2014/main" id="{991B045B-A49D-4B8A-A28B-63E81381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3655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3655B"/>
                </a:solidFill>
                <a:latin typeface="Aptos"/>
                <a:ea typeface="Aptos"/>
                <a:cs typeface="Aptos"/>
              </a:rPr>
              <a:t>The product is grounded in versioned requirements, architecture, data schemas, tests, and explicit scope decisions.</a:t>
            </a:r>
          </a:p>
        </p:txBody>
      </p:sp>
      <p:sp>
        <p:nvSpPr>
          <p:cNvPr id="4" name="refs-title">
            <a:extLst xmlns:a="http://schemas.openxmlformats.org/drawingml/2006/main">
              <a:ext uri="{FF2B5EF4-FFF2-40B4-BE49-F238E27FC236}">
                <a16:creationId xmlns:a16="http://schemas.microsoft.com/office/drawing/2014/main" id="{BD7AA54E-3B8C-4C0D-86BF-AC617703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02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76B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6B47"/>
                </a:solidFill>
                <a:latin typeface="Aptos"/>
                <a:ea typeface="Aptos"/>
                <a:cs typeface="Aptos"/>
              </a:rPr>
              <a:t>PRIMARY PROJECT REFERENCES</a:t>
            </a:r>
          </a:p>
        </p:txBody>
      </p:sp>
      <p:sp>
        <p:nvSpPr>
          <p:cNvPr id="5" name="refs-list">
            <a:extLst xmlns:a="http://schemas.openxmlformats.org/drawingml/2006/main">
              <a:ext uri="{FF2B5EF4-FFF2-40B4-BE49-F238E27FC236}">
                <a16:creationId xmlns:a16="http://schemas.microsoft.com/office/drawing/2014/main" id="{E43DE320-1769-4E0C-AC95-5E4B15A9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9080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1" indent="-12" algn="l">
              <a:lnSpc>
                <a:spcPct val="112000"/>
              </a:lnSpc>
              <a:spcAft>
                <a:spcPts val="9"/>
              </a:spcAft>
              <a:buNone/>
              <a:defRPr sz="1350" b="0">
                <a:solidFill>
                  <a:srgbClr val="1023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1A"/>
                </a:solidFill>
                <a:latin typeface="Aptos"/>
                <a:ea typeface="Aptos"/>
                <a:cs typeface="Aptos"/>
              </a:rPr>
              <a:t>Product: README.md + docs/product-requirements.md</a:t>
            </a:r>
          </a:p>
          <a:p xmlns:a="http://schemas.openxmlformats.org/drawingml/2006/main">
            <a:pPr marL="21" indent="-12" algn="l">
              <a:lnSpc>
                <a:spcPct val="112000"/>
              </a:lnSpc>
              <a:spcAft>
                <a:spcPts val="9"/>
              </a:spcAft>
              <a:buNone/>
              <a:defRPr sz="1350" b="0">
                <a:solidFill>
                  <a:srgbClr val="1023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1A"/>
                </a:solidFill>
                <a:latin typeface="Aptos"/>
                <a:ea typeface="Aptos"/>
                <a:cs typeface="Aptos"/>
              </a:rPr>
              <a:t>System: docs/architecture.md + packages/contracts</a:t>
            </a:r>
          </a:p>
          <a:p xmlns:a="http://schemas.openxmlformats.org/drawingml/2006/main">
            <a:pPr marL="21" indent="-12" algn="l">
              <a:lnSpc>
                <a:spcPct val="112000"/>
              </a:lnSpc>
              <a:spcAft>
                <a:spcPts val="9"/>
              </a:spcAft>
              <a:buNone/>
              <a:defRPr sz="1350" b="0">
                <a:solidFill>
                  <a:srgbClr val="1023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1A"/>
                </a:solidFill>
                <a:latin typeface="Aptos"/>
                <a:ea typeface="Aptos"/>
                <a:cs typeface="Aptos"/>
              </a:rPr>
              <a:t>Data: data/README.md + source-aware split scripts</a:t>
            </a:r>
          </a:p>
          <a:p xmlns:a="http://schemas.openxmlformats.org/drawingml/2006/main">
            <a:pPr marL="21" indent="-12" algn="l">
              <a:lnSpc>
                <a:spcPct val="112000"/>
              </a:lnSpc>
              <a:spcAft>
                <a:spcPts val="9"/>
              </a:spcAft>
              <a:buNone/>
              <a:defRPr sz="1350" b="0">
                <a:solidFill>
                  <a:srgbClr val="1023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1A"/>
                </a:solidFill>
                <a:latin typeface="Aptos"/>
                <a:ea typeface="Aptos"/>
                <a:cs typeface="Aptos"/>
              </a:rPr>
              <a:t>Delivery: docs/roadmap.md + component READMEs</a:t>
            </a:r>
          </a:p>
          <a:p xmlns:a="http://schemas.openxmlformats.org/drawingml/2006/main">
            <a:pPr marL="21" indent="-12" algn="l">
              <a:lnSpc>
                <a:spcPct val="112000"/>
              </a:lnSpc>
              <a:spcAft>
                <a:spcPts val="9"/>
              </a:spcAft>
              <a:buNone/>
              <a:defRPr sz="1350" b="0">
                <a:solidFill>
                  <a:srgbClr val="10231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31A"/>
                </a:solidFill>
                <a:latin typeface="Aptos"/>
                <a:ea typeface="Aptos"/>
                <a:cs typeface="Aptos"/>
              </a:rPr>
              <a:t>Quality: SECURITY.md + automated dataset tests</a:t>
            </a:r>
          </a:p>
        </p:txBody>
      </p:sp>
      <p:sp>
        <p:nvSpPr>
          <p:cNvPr id="6" name="truth-panel">
            <a:extLst xmlns:a="http://schemas.openxmlformats.org/drawingml/2006/main">
              <a:ext uri="{FF2B5EF4-FFF2-40B4-BE49-F238E27FC236}">
                <a16:creationId xmlns:a16="http://schemas.microsoft.com/office/drawing/2014/main" id="{A4A1B9CC-E612-4960-9711-821645B8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43125"/>
            <a:ext cx="55626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7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ruth-title">
            <a:extLst xmlns:a="http://schemas.openxmlformats.org/drawingml/2006/main">
              <a:ext uri="{FF2B5EF4-FFF2-40B4-BE49-F238E27FC236}">
                <a16:creationId xmlns:a16="http://schemas.microsoft.com/office/drawing/2014/main" id="{CBCD0916-4B16-417A-91CD-D424E7084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90775"/>
            <a:ext cx="4991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0231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0231A"/>
                </a:solidFill>
                <a:latin typeface="Aptos"/>
                <a:ea typeface="Aptos"/>
                <a:cs typeface="Aptos"/>
              </a:rPr>
              <a:t>CURRENT PROJECT TRUTH</a:t>
            </a:r>
          </a:p>
        </p:txBody>
      </p:sp>
      <p:sp>
        <p:nvSpPr>
          <p:cNvPr id="8" name="truth-mark-0">
            <a:extLst xmlns:a="http://schemas.openxmlformats.org/drawingml/2006/main">
              <a:ext uri="{FF2B5EF4-FFF2-40B4-BE49-F238E27FC236}">
                <a16:creationId xmlns:a16="http://schemas.microsoft.com/office/drawing/2014/main" id="{B44F7BB1-7E8B-41BD-B40A-ACA23E82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95600"/>
            <a:ext cx="76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ruth-label-0">
            <a:extLst xmlns:a="http://schemas.openxmlformats.org/drawingml/2006/main">
              <a:ext uri="{FF2B5EF4-FFF2-40B4-BE49-F238E27FC236}">
                <a16:creationId xmlns:a16="http://schemas.microsoft.com/office/drawing/2014/main" id="{512DC586-A5F9-4F26-B3B5-63547BEA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956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176B4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6B47"/>
                </a:solidFill>
                <a:latin typeface="Aptos"/>
                <a:ea typeface="Aptos"/>
                <a:cs typeface="Aptos"/>
              </a:rPr>
              <a:t>BUILT</a:t>
            </a:r>
          </a:p>
        </p:txBody>
      </p:sp>
      <p:sp>
        <p:nvSpPr>
          <p:cNvPr id="10" name="truth-body-0">
            <a:extLst xmlns:a="http://schemas.openxmlformats.org/drawingml/2006/main">
              <a:ext uri="{FF2B5EF4-FFF2-40B4-BE49-F238E27FC236}">
                <a16:creationId xmlns:a16="http://schemas.microsoft.com/office/drawing/2014/main" id="{8C076563-C510-47BB-83DF-AE68E16B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95600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231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1A"/>
                </a:solidFill>
                <a:latin typeface="Aptos"/>
                <a:ea typeface="Aptos"/>
                <a:cs typeface="Aptos"/>
              </a:rPr>
              <a:t>Farmer flow • GPS/place label • live weather • local history</a:t>
            </a:r>
          </a:p>
        </p:txBody>
      </p:sp>
      <p:sp>
        <p:nvSpPr>
          <p:cNvPr id="11" name="truth-mark-1">
            <a:extLst xmlns:a="http://schemas.openxmlformats.org/drawingml/2006/main">
              <a:ext uri="{FF2B5EF4-FFF2-40B4-BE49-F238E27FC236}">
                <a16:creationId xmlns:a16="http://schemas.microsoft.com/office/drawing/2014/main" id="{3DAB0F4E-D9AA-4FBC-9A61-80C73D4F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76625"/>
            <a:ext cx="76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9E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ruth-label-1">
            <a:extLst xmlns:a="http://schemas.openxmlformats.org/drawingml/2006/main">
              <a:ext uri="{FF2B5EF4-FFF2-40B4-BE49-F238E27FC236}">
                <a16:creationId xmlns:a16="http://schemas.microsoft.com/office/drawing/2014/main" id="{55E53F82-2C03-4433-9E53-6F180139B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7662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29E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9E38"/>
                </a:solidFill>
                <a:latin typeface="Aptos"/>
                <a:ea typeface="Aptos"/>
                <a:cs typeface="Aptos"/>
              </a:rPr>
              <a:t>IN PROGRESS</a:t>
            </a:r>
          </a:p>
        </p:txBody>
      </p:sp>
      <p:sp>
        <p:nvSpPr>
          <p:cNvPr id="13" name="truth-body-1">
            <a:extLst xmlns:a="http://schemas.openxmlformats.org/drawingml/2006/main">
              <a:ext uri="{FF2B5EF4-FFF2-40B4-BE49-F238E27FC236}">
                <a16:creationId xmlns:a16="http://schemas.microsoft.com/office/drawing/2014/main" id="{5DEF605A-337E-4C7A-9D1A-8A2CD140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76625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231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1A"/>
                </a:solidFill>
                <a:latin typeface="Aptos"/>
                <a:ea typeface="Aptos"/>
                <a:cs typeface="Aptos"/>
              </a:rPr>
              <a:t>Curated datasets • midweight model training • evaluation</a:t>
            </a:r>
          </a:p>
        </p:txBody>
      </p:sp>
      <p:sp>
        <p:nvSpPr>
          <p:cNvPr id="14" name="truth-mark-2">
            <a:extLst xmlns:a="http://schemas.openxmlformats.org/drawingml/2006/main">
              <a:ext uri="{FF2B5EF4-FFF2-40B4-BE49-F238E27FC236}">
                <a16:creationId xmlns:a16="http://schemas.microsoft.com/office/drawing/2014/main" id="{663CF089-7398-4225-ACAE-DB9BF00B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57650"/>
            <a:ext cx="76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5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ruth-label-2">
            <a:extLst xmlns:a="http://schemas.openxmlformats.org/drawingml/2006/main">
              <a:ext uri="{FF2B5EF4-FFF2-40B4-BE49-F238E27FC236}">
                <a16:creationId xmlns:a16="http://schemas.microsoft.com/office/drawing/2014/main" id="{DAC2361E-512B-4FD2-AD6E-C1950243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5765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365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3655B"/>
                </a:solidFill>
                <a:latin typeface="Aptos"/>
                <a:ea typeface="Aptos"/>
                <a:cs typeface="Aptos"/>
              </a:rPr>
              <a:t>OUT OF SCOPE</a:t>
            </a:r>
          </a:p>
        </p:txBody>
      </p:sp>
      <p:sp>
        <p:nvSpPr>
          <p:cNvPr id="16" name="truth-body-2">
            <a:extLst xmlns:a="http://schemas.openxmlformats.org/drawingml/2006/main">
              <a:ext uri="{FF2B5EF4-FFF2-40B4-BE49-F238E27FC236}">
                <a16:creationId xmlns:a16="http://schemas.microsoft.com/office/drawing/2014/main" id="{739F31F2-1ABD-4096-A2F6-9C04BC44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57650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0231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0231A"/>
                </a:solidFill>
                <a:latin typeface="Aptos"/>
                <a:ea typeface="Aptos"/>
                <a:cs typeface="Aptos"/>
              </a:rPr>
              <a:t>External case submission • institutional operations • commerce</a:t>
            </a:r>
          </a:p>
        </p:txBody>
      </p:sp>
      <p:sp>
        <p:nvSpPr>
          <p:cNvPr id="17" name="closing-box">
            <a:extLst xmlns:a="http://schemas.openxmlformats.org/drawingml/2006/main">
              <a:ext uri="{FF2B5EF4-FFF2-40B4-BE49-F238E27FC236}">
                <a16:creationId xmlns:a16="http://schemas.microsoft.com/office/drawing/2014/main" id="{08453B29-4EF1-4124-BC68-8B89D5AB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00650"/>
            <a:ext cx="111252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2D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losing-line">
            <a:extLst xmlns:a="http://schemas.openxmlformats.org/drawingml/2006/main">
              <a:ext uri="{FF2B5EF4-FFF2-40B4-BE49-F238E27FC236}">
                <a16:creationId xmlns:a16="http://schemas.microsoft.com/office/drawing/2014/main" id="{DC1D6784-222E-4367-A152-4582E084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91150"/>
            <a:ext cx="676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 honestly. Learn in public.</a:t>
            </a:r>
          </a:p>
        </p:txBody>
      </p:sp>
      <p:sp>
        <p:nvSpPr>
          <p:cNvPr id="19" name="closing-next">
            <a:extLst xmlns:a="http://schemas.openxmlformats.org/drawingml/2006/main">
              <a:ext uri="{FF2B5EF4-FFF2-40B4-BE49-F238E27FC236}">
                <a16:creationId xmlns:a16="http://schemas.microsoft.com/office/drawing/2014/main" id="{4189685E-390E-4F6D-B84E-C5B6B238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3911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1">
                <a:solidFill>
                  <a:srgbClr val="F29E3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29E38"/>
                </a:solidFill>
                <a:latin typeface="Aptos"/>
                <a:ea typeface="Aptos"/>
                <a:cs typeface="Aptos"/>
              </a:rPr>
              <a:t>NEXT MILESTONE  →  train and evaluate the midweight vision model on curated, source-aware splits</a:t>
            </a:r>
          </a:p>
        </p:txBody>
      </p:sp>
      <p:sp>
        <p:nvSpPr>
          <p:cNvPr id="20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CC28B291-FCB6-491E-BD85-72506791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817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4C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ooter-brand-6">
            <a:extLst xmlns:a="http://schemas.openxmlformats.org/drawingml/2006/main">
              <a:ext uri="{FF2B5EF4-FFF2-40B4-BE49-F238E27FC236}">
                <a16:creationId xmlns:a16="http://schemas.microsoft.com/office/drawing/2014/main" id="{A8178C16-3B32-4631-853B-88D52805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86525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5365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3655B"/>
                </a:solidFill>
                <a:latin typeface="Aptos"/>
                <a:ea typeface="Aptos"/>
                <a:cs typeface="Aptos"/>
              </a:rPr>
              <a:t>Wellfarm  •  Portfolio overview</a:t>
            </a:r>
          </a:p>
        </p:txBody>
      </p:sp>
      <p:sp>
        <p:nvSpPr>
          <p:cNvPr id="22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952AE071-8BAB-4A41-A278-B913736C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53655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3655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288424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2026-09-01T15:16:30.8850000Z</dcterms:created>
  <dcterms:modified xsi:type="dcterms:W3CDTF">2026-09-01T15:16:30.8850000Z</dcterms:modified>
</coreProperties>
</file>